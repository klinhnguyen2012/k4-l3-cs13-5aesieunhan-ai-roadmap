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ết luận"/>
          <p:cNvSpPr txBox="1"/>
          <p:nvPr/>
        </p:nvSpPr>
        <p:spPr>
          <a:xfrm>
            <a:off x="457200" y="365760"/>
            <a:ext cx="1127455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142B3A"/>
                </a:solidFill>
                <a:latin typeface="Cambria"/>
              </a:rPr>
              <a:t>Làm trước việc chuyển bài khó cho giáo viên và sửa tầng Khó; chỉ tăng mức tự động khi qua cổng đo bằng số. Mức 1: duyệt 15% bài, 1.919 đ/bài, biên gộp 63,2%.</a:t>
            </a:r>
          </a:p>
        </p:txBody>
      </p:sp>
      <p:sp>
        <p:nvSpPr>
          <p:cNvPr id="3" name="Thẻ 3 việc chính"/>
          <p:cNvSpPr/>
          <p:nvPr/>
        </p:nvSpPr>
        <p:spPr>
          <a:xfrm>
            <a:off x="457200" y="1874519"/>
            <a:ext cx="5522976" cy="2103120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êu đề 3 việc chính"/>
          <p:cNvSpPr txBox="1"/>
          <p:nvPr/>
        </p:nvSpPr>
        <p:spPr>
          <a:xfrm>
            <a:off x="685800" y="2075688"/>
            <a:ext cx="5065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0F766E"/>
                </a:solidFill>
                <a:latin typeface="Calibri"/>
              </a:rPr>
              <a:t>3 việc chính</a:t>
            </a:r>
          </a:p>
        </p:txBody>
      </p:sp>
      <p:sp>
        <p:nvSpPr>
          <p:cNvPr id="5" name="Nội dung 3 việc chính"/>
          <p:cNvSpPr txBox="1"/>
          <p:nvPr/>
        </p:nvSpPr>
        <p:spPr>
          <a:xfrm>
            <a:off x="685800" y="2624327"/>
            <a:ext cx="5065776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D3A"/>
                </a:solidFill>
                <a:latin typeface="Calibri"/>
              </a:rPr>
              <a:t>1) Chuyển bài cho giáo viên đúng lúc, sửa tầng Khó đang tụt (tuần 1–2; chạy lại 40 bài tuần 3–6).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A"/>
                </a:solidFill>
                <a:latin typeface="Calibri"/>
              </a:rPr>
              <a:t>2) Chấm 4 tiêu chí cho bài thường, giáo viên bớt 60% giờ chấm.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A"/>
                </a:solidFill>
                <a:latin typeface="Calibri"/>
              </a:rPr>
              <a:t>3) Báo cáo độ lệch máy–giáo viên cho đối tác lớn nhất (≥70% bài lệch ≤0,5 điểm).</a:t>
            </a:r>
          </a:p>
        </p:txBody>
      </p:sp>
      <p:sp>
        <p:nvSpPr>
          <p:cNvPr id="6" name="Thẻ Cần gì"/>
          <p:cNvSpPr/>
          <p:nvPr/>
        </p:nvSpPr>
        <p:spPr>
          <a:xfrm>
            <a:off x="6208776" y="1874519"/>
            <a:ext cx="5522976" cy="2103120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êu đề Cần gì"/>
          <p:cNvSpPr txBox="1"/>
          <p:nvPr/>
        </p:nvSpPr>
        <p:spPr>
          <a:xfrm>
            <a:off x="6437376" y="2075688"/>
            <a:ext cx="5065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0F766E"/>
                </a:solidFill>
                <a:latin typeface="Calibri"/>
              </a:rPr>
              <a:t>Cần gì</a:t>
            </a:r>
          </a:p>
        </p:txBody>
      </p:sp>
      <p:sp>
        <p:nvSpPr>
          <p:cNvPr id="8" name="Nội dung Cần gì"/>
          <p:cNvSpPr txBox="1"/>
          <p:nvPr/>
        </p:nvSpPr>
        <p:spPr>
          <a:xfrm>
            <a:off x="6437376" y="2624327"/>
            <a:ext cx="5065776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D3A"/>
                </a:solidFill>
                <a:latin typeface="Calibri"/>
              </a:rPr>
              <a:t>Chuyên gia: cô Lan và thầy Khoa, mỗi người 2 giờ/tuần (1 vòng chạy lại 40 bài tốn 14,2 giờ). Kỹ sư: sửa tầng Khó. Dữ liệu: thêm ca Khó, gắn nhãn bài vùng 5,0–6,5. Tiền: kịch bản xấu hết ở tháng 17, nên chưa mở rộng trước khi qua cổng Mức 1.</a:t>
            </a:r>
          </a:p>
        </p:txBody>
      </p:sp>
      <p:sp>
        <p:nvSpPr>
          <p:cNvPr id="9" name="Thẻ Rủi ro lớn nhất &amp; cách xử lý"/>
          <p:cNvSpPr/>
          <p:nvPr/>
        </p:nvSpPr>
        <p:spPr>
          <a:xfrm>
            <a:off x="457200" y="4206240"/>
            <a:ext cx="5522976" cy="2103120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iêu đề Rủi ro lớn nhất &amp; cách xử lý"/>
          <p:cNvSpPr txBox="1"/>
          <p:nvPr/>
        </p:nvSpPr>
        <p:spPr>
          <a:xfrm>
            <a:off x="685800" y="4407407"/>
            <a:ext cx="5065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0F766E"/>
                </a:solidFill>
                <a:latin typeface="Calibri"/>
              </a:rPr>
              <a:t>Rủi ro lớn nhất &amp; cách xử lý</a:t>
            </a:r>
          </a:p>
        </p:txBody>
      </p:sp>
      <p:sp>
        <p:nvSpPr>
          <p:cNvPr id="11" name="Nội dung Rủi ro lớn nhất &amp; cách xử lý"/>
          <p:cNvSpPr txBox="1"/>
          <p:nvPr/>
        </p:nvSpPr>
        <p:spPr>
          <a:xfrm>
            <a:off x="685800" y="4956048"/>
            <a:ext cx="5065776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D3A"/>
                </a:solidFill>
                <a:latin typeface="Calibri"/>
              </a:rPr>
              <a:t>Doanh thu bình quân: 55% đến từ 25% trung tâm lớn. Xử lý: gửi đối tác lớn nhất báo cáo độ lệch. Nếu doanh thu sau chia dưới 3,95 triệu/trung tâm 2 tháng liên tiếp trên ≥15 trung tâm thì dừng mở rộng; nếu ngày 60 có 1 bài lệch quá 1 điểm thì lùi về Mức 0.</a:t>
            </a:r>
          </a:p>
        </p:txBody>
      </p:sp>
      <p:sp>
        <p:nvSpPr>
          <p:cNvPr id="12" name="Thẻ Khi nào xem lại"/>
          <p:cNvSpPr/>
          <p:nvPr/>
        </p:nvSpPr>
        <p:spPr>
          <a:xfrm>
            <a:off x="6208776" y="4206240"/>
            <a:ext cx="5522976" cy="2103120"/>
          </a:xfrm>
          <a:prstGeom prst="roundRect">
            <a:avLst>
              <a:gd name="adj" fmla="val 4000"/>
            </a:avLst>
          </a:prstGeom>
          <a:solidFill>
            <a:srgbClr val="EE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êu đề Khi nào xem lại"/>
          <p:cNvSpPr txBox="1"/>
          <p:nvPr/>
        </p:nvSpPr>
        <p:spPr>
          <a:xfrm>
            <a:off x="6437376" y="4407407"/>
            <a:ext cx="5065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0F766E"/>
                </a:solidFill>
                <a:latin typeface="Calibri"/>
              </a:rPr>
              <a:t>Khi nào xem lại</a:t>
            </a:r>
          </a:p>
        </p:txBody>
      </p:sp>
      <p:sp>
        <p:nvSpPr>
          <p:cNvPr id="14" name="Nội dung Khi nào xem lại"/>
          <p:cNvSpPr txBox="1"/>
          <p:nvPr/>
        </p:nvSpPr>
        <p:spPr>
          <a:xfrm>
            <a:off x="6437376" y="4956048"/>
            <a:ext cx="5065776" cy="11887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D3A"/>
                </a:solidFill>
                <a:latin typeface="Calibri"/>
              </a:rPr>
              <a:t>Ngày 30: tầng Khó đã sửa, mẫu chấm đôi. Ngày 60: kết quả chạy lại 40 bài, quyết định mở Mức 2. Ngày 90: doanh thu bình quân và độ lệch máy–giáo viên. Ngoài lịch: đổi mô hình, đối thủ ra tính năng tương tự, luật đổi.</a:t>
            </a:r>
          </a:p>
        </p:txBody>
      </p:sp>
      <p:sp>
        <p:nvSpPr>
          <p:cNvPr id="15" name="Chân trang"/>
          <p:cNvSpPr txBox="1"/>
          <p:nvPr/>
        </p:nvSpPr>
        <p:spPr>
          <a:xfrm>
            <a:off x="457200" y="6473952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5B6B77"/>
                </a:solidFill>
                <a:latin typeface="Calibri"/>
              </a:rPr>
              <a:t>ChấmNhanh · Lộ trình 12 tháng · Nhóm 5aesieunhan · Số liệu từ file Excel của nhóm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